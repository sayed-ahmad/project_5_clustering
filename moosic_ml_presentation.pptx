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b1EHXA1qh2dSSc7X8S60JL2It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7.xml"/><Relationship Id="rId22" Type="http://schemas.openxmlformats.org/officeDocument/2006/relationships/font" Target="fonts/Lato-boldItalic.fntdata"/><Relationship Id="rId10" Type="http://schemas.openxmlformats.org/officeDocument/2006/relationships/slide" Target="slides/slide6.xml"/><Relationship Id="rId21" Type="http://schemas.openxmlformats.org/officeDocument/2006/relationships/font" Target="fonts/Lat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ato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c759ad652b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3c759ad652b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g3c759ad652b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6bc0a1fc7_0_41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6bc0a1fc7_0_4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6bc0a1fc7_0_113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6bc0a1fc7_0_11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6bc0a1fc7_0_121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6bc0a1fc7_0_12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6bc0a1fc7_0_126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6bc0a1fc7_0_12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6bc0a1fc7_0_133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6bc0a1fc7_0_13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3eaef876b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3eaef876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93eaef876b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3eaef876b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3eaef876b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93eaef876b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3eaef876b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3eaef876b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93eaef876b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3eaef876b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3eaef876b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3eaef876b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6bc0a1fc7_0_110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g3c6bc0a1fc7_0_1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 slaytı güzelleştir" id="22" name="Google Shape;22;g3c759ad652b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9667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3600"/>
              <a:buFont typeface="Georgia"/>
              <a:buNone/>
            </a:pPr>
            <a:r>
              <a:rPr b="1" i="0" lang="en-US" sz="3500" u="none" cap="none" strike="noStrike">
                <a:solidFill>
                  <a:srgbClr val="05668D"/>
                </a:solidFill>
                <a:latin typeface="Georgia"/>
                <a:ea typeface="Georgia"/>
                <a:cs typeface="Georgia"/>
                <a:sym typeface="Georgia"/>
              </a:rPr>
              <a:t>Our Approach: K-Means Clustering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188720"/>
            <a:ext cx="3931800" cy="14631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1188720"/>
            <a:ext cx="73200" cy="14631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188720" y="141732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5668D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31400" y="1714479"/>
            <a:ext cx="33834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5,</a:t>
            </a:r>
            <a:r>
              <a:rPr lang="en-US" sz="1300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235</a:t>
            </a: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 songs from Spotify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300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 audio features analyzed</a:t>
            </a:r>
            <a:endParaRPr b="0" i="0" sz="1300" u="none" cap="none" strike="noStrike">
              <a:solidFill>
                <a:srgbClr val="2F3E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Clean Data and Preprocessing</a:t>
            </a:r>
            <a:endParaRPr sz="1300">
              <a:solidFill>
                <a:srgbClr val="2F3E4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754880" y="1188720"/>
            <a:ext cx="3931800" cy="14631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4754880" y="1188720"/>
            <a:ext cx="73200" cy="14631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5486400" y="141732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5668D"/>
                </a:solidFill>
                <a:latin typeface="Calibri"/>
                <a:ea typeface="Calibri"/>
                <a:cs typeface="Calibri"/>
                <a:sym typeface="Calibri"/>
              </a:rPr>
              <a:t>Dimensionality Reduction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029200" y="1828800"/>
            <a:ext cx="338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PCA reduced to </a:t>
            </a:r>
            <a:r>
              <a:rPr lang="en-US" sz="1300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 components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Retained </a:t>
            </a:r>
            <a:r>
              <a:rPr lang="en-US" sz="1300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% variance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2926080"/>
            <a:ext cx="3931800" cy="14631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2926080"/>
            <a:ext cx="73200" cy="14631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3108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1188720" y="315468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5668D"/>
                </a:solidFill>
                <a:latin typeface="Calibri"/>
                <a:ea typeface="Calibri"/>
                <a:cs typeface="Calibri"/>
                <a:sym typeface="Calibri"/>
              </a:rPr>
              <a:t>Clustering Result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31520" y="3566160"/>
            <a:ext cx="338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 distinct playlists created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Silhouette score: approx. 0.</a:t>
            </a:r>
            <a:r>
              <a:rPr lang="en-US" sz="1300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106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754880" y="2926080"/>
            <a:ext cx="3931800" cy="14631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754880" y="2926080"/>
            <a:ext cx="73200" cy="14631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029075" y="3047900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5668D"/>
                </a:solidFill>
                <a:latin typeface="Calibri"/>
                <a:ea typeface="Calibri"/>
                <a:cs typeface="Calibri"/>
                <a:sym typeface="Calibri"/>
              </a:rPr>
              <a:t>Features Used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931625" y="3566150"/>
            <a:ext cx="3824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Used</a:t>
            </a:r>
            <a:r>
              <a:rPr lang="en-US" sz="1300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Energy, danceability, key,  valence, tempo,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acousticness, instrumentalness, loudness, mode, spe</a:t>
            </a:r>
            <a:r>
              <a:rPr lang="en-US" sz="1300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echinees, liveness, duration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Dropped</a:t>
            </a: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: artist, name, type, ID, times</a:t>
            </a:r>
            <a:r>
              <a:rPr lang="en-US" sz="1300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ignature, html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5668D"/>
                </a:solidFill>
                <a:latin typeface="Georgia"/>
                <a:ea typeface="Georgia"/>
                <a:cs typeface="Georgia"/>
                <a:sym typeface="Georgia"/>
              </a:rPr>
              <a:t>K-Means: Strengths &amp; Limitations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1188720" y="13716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2C39A"/>
                </a:solidFill>
                <a:latin typeface="Georgia"/>
                <a:ea typeface="Georgia"/>
                <a:cs typeface="Georgia"/>
                <a:sym typeface="Georgia"/>
              </a:rPr>
              <a:t>Strengths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31520" y="182880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Fast &amp; Scalable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Works efficiently with 5,000+ songs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Simple to Implement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Requires minimal tuning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Interpretable 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Clear cluster characteristics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846320" y="1097280"/>
            <a:ext cx="4114800" cy="329184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5577840" y="13716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rPr>
              <a:t>Limitations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120640" y="182880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Moderate Cohesion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Silhouette score of 0.</a:t>
            </a:r>
            <a:r>
              <a:rPr lang="en-US" sz="1200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b="0" i="0" lang="en-US" sz="12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 suggests overlap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Limited Feature 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Missing genre, lyrics, mood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Assumes Spherical Clusters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May not capture complex music patterns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6bc0a1fc7_0_41"/>
          <p:cNvSpPr txBox="1"/>
          <p:nvPr>
            <p:ph type="title"/>
          </p:nvPr>
        </p:nvSpPr>
        <p:spPr>
          <a:xfrm>
            <a:off x="311700" y="4732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3600"/>
              <a:buFont typeface="Georgia"/>
              <a:buNone/>
            </a:pPr>
            <a:r>
              <a:rPr b="1" lang="en-US" sz="3600">
                <a:solidFill>
                  <a:srgbClr val="05668D"/>
                </a:solidFill>
                <a:latin typeface="Georgia"/>
                <a:ea typeface="Georgia"/>
                <a:cs typeface="Georgia"/>
                <a:sym typeface="Georgia"/>
              </a:rPr>
              <a:t>Preprocessing</a:t>
            </a:r>
            <a:endParaRPr sz="1400"/>
          </a:p>
        </p:txBody>
      </p:sp>
      <p:sp>
        <p:nvSpPr>
          <p:cNvPr id="69" name="Google Shape;69;g3c6bc0a1fc7_0_4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modern" id="70" name="Google Shape;70;g3c6bc0a1fc7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950" y="750650"/>
            <a:ext cx="5817676" cy="426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6bc0a1fc7_0_113"/>
          <p:cNvSpPr txBox="1"/>
          <p:nvPr>
            <p:ph type="title"/>
          </p:nvPr>
        </p:nvSpPr>
        <p:spPr>
          <a:xfrm>
            <a:off x="359825" y="2118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5668D"/>
                </a:solidFill>
                <a:latin typeface="Georgia"/>
                <a:ea typeface="Georgia"/>
                <a:cs typeface="Georgia"/>
                <a:sym typeface="Georgia"/>
              </a:rPr>
              <a:t>Preprocessing (Cont)</a:t>
            </a:r>
            <a:endParaRPr sz="1400"/>
          </a:p>
        </p:txBody>
      </p:sp>
      <p:sp>
        <p:nvSpPr>
          <p:cNvPr id="76" name="Google Shape;76;g3c6bc0a1fc7_0_113"/>
          <p:cNvSpPr txBox="1"/>
          <p:nvPr>
            <p:ph type="title"/>
          </p:nvPr>
        </p:nvSpPr>
        <p:spPr>
          <a:xfrm>
            <a:off x="584550" y="961075"/>
            <a:ext cx="79581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/>
            </a:r>
            <a:endParaRPr b="0"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" name="Google Shape;77;g3c6bc0a1fc7_0_113"/>
          <p:cNvSpPr txBox="1"/>
          <p:nvPr/>
        </p:nvSpPr>
        <p:spPr>
          <a:xfrm>
            <a:off x="6588975" y="869850"/>
            <a:ext cx="16404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Skewness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" name="Google Shape;78;g3c6bc0a1fc7_0_1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9" name="Google Shape;79;g3c6bc0a1fc7_0_113" title="0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25" y="1085325"/>
            <a:ext cx="5555299" cy="3440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c6bc0a1fc7_0_113" title="00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9850" y="1281950"/>
            <a:ext cx="2133600" cy="26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6bc0a1fc7_0_121"/>
          <p:cNvSpPr txBox="1"/>
          <p:nvPr>
            <p:ph type="title"/>
          </p:nvPr>
        </p:nvSpPr>
        <p:spPr>
          <a:xfrm>
            <a:off x="457100" y="1114900"/>
            <a:ext cx="79581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0" lang="en-US" sz="1900"/>
              <a:t>PowerTransformer()</a:t>
            </a:r>
            <a:endParaRPr b="0" sz="1900"/>
          </a:p>
          <a:p>
            <a:pPr indent="-3492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0" lang="en-US" sz="1900"/>
              <a:t>R</a:t>
            </a:r>
            <a:r>
              <a:rPr lang="en-US" sz="1900"/>
              <a:t>o</a:t>
            </a:r>
            <a:r>
              <a:rPr b="0" lang="en-US" sz="1900"/>
              <a:t>bustScaler()</a:t>
            </a:r>
            <a:endParaRPr b="0" sz="1900"/>
          </a:p>
          <a:p>
            <a:pPr indent="-3492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MinMaxScaler() only for Radar Chart ploting</a:t>
            </a:r>
            <a:endParaRPr sz="19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out_of_range_features = ['tempo', 'duration_ms', 'loudness', 'instrumentalness']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92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0" lang="en-US" sz="1900"/>
              <a:t>PCA()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g3c6bc0a1fc7_0_1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g3c6bc0a1fc7_0_121"/>
          <p:cNvSpPr txBox="1"/>
          <p:nvPr>
            <p:ph type="title"/>
          </p:nvPr>
        </p:nvSpPr>
        <p:spPr>
          <a:xfrm>
            <a:off x="359825" y="2118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5668D"/>
                </a:solidFill>
                <a:latin typeface="Georgia"/>
                <a:ea typeface="Georgia"/>
                <a:cs typeface="Georgia"/>
                <a:sym typeface="Georgia"/>
              </a:rPr>
              <a:t>Preprocessing (Cont)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6bc0a1fc7_0_126"/>
          <p:cNvSpPr txBox="1"/>
          <p:nvPr>
            <p:ph type="title"/>
          </p:nvPr>
        </p:nvSpPr>
        <p:spPr>
          <a:xfrm>
            <a:off x="303300" y="235731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5668D"/>
                </a:solidFill>
                <a:latin typeface="Georgia"/>
                <a:ea typeface="Georgia"/>
                <a:cs typeface="Georgia"/>
                <a:sym typeface="Georgia"/>
              </a:rPr>
              <a:t>Clusters</a:t>
            </a:r>
            <a:r>
              <a:rPr lang="en-US" sz="2600"/>
              <a:t> </a:t>
            </a:r>
            <a:r>
              <a:rPr b="1" lang="en-US" sz="3600">
                <a:solidFill>
                  <a:srgbClr val="05668D"/>
                </a:solidFill>
                <a:latin typeface="Georgia"/>
                <a:ea typeface="Georgia"/>
                <a:cs typeface="Georgia"/>
                <a:sym typeface="Georgia"/>
              </a:rPr>
              <a:t>Estimation</a:t>
            </a:r>
            <a:endParaRPr sz="1400"/>
          </a:p>
        </p:txBody>
      </p:sp>
      <p:sp>
        <p:nvSpPr>
          <p:cNvPr id="93" name="Google Shape;93;g3c6bc0a1fc7_0_126"/>
          <p:cNvSpPr txBox="1"/>
          <p:nvPr>
            <p:ph type="title"/>
          </p:nvPr>
        </p:nvSpPr>
        <p:spPr>
          <a:xfrm>
            <a:off x="584550" y="961075"/>
            <a:ext cx="79581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0" lang="en-US" sz="1600"/>
              <a:t>Used </a:t>
            </a:r>
            <a:r>
              <a:rPr lang="en-US" sz="1600"/>
              <a:t>I</a:t>
            </a:r>
            <a:r>
              <a:rPr b="0" lang="en-US" sz="1600"/>
              <a:t>nertia (Elbow) and the Silh</a:t>
            </a:r>
            <a:r>
              <a:rPr lang="en-US" sz="1600"/>
              <a:t>oue</a:t>
            </a:r>
            <a:r>
              <a:rPr b="0" lang="en-US" sz="1600"/>
              <a:t>tte Score methods to determine the number of clusters </a:t>
            </a:r>
            <a:endParaRPr b="0"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g3c6bc0a1fc7_0_1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5" name="Google Shape;95;g3c6bc0a1fc7_0_126" title="0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025" y="1604425"/>
            <a:ext cx="4199750" cy="27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c6bc0a1fc7_0_126" title="0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7250" y="1604425"/>
            <a:ext cx="4105352" cy="27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6bc0a1fc7_0_133"/>
          <p:cNvSpPr txBox="1"/>
          <p:nvPr>
            <p:ph type="title"/>
          </p:nvPr>
        </p:nvSpPr>
        <p:spPr>
          <a:xfrm>
            <a:off x="303300" y="248289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5668D"/>
                </a:solidFill>
                <a:latin typeface="Georgia"/>
                <a:ea typeface="Georgia"/>
                <a:cs typeface="Georgia"/>
                <a:sym typeface="Georgia"/>
              </a:rPr>
              <a:t>Features</a:t>
            </a:r>
            <a:r>
              <a:rPr lang="en-US" sz="2600"/>
              <a:t> </a:t>
            </a:r>
            <a:r>
              <a:rPr b="1" lang="en-US" sz="3600">
                <a:solidFill>
                  <a:srgbClr val="05668D"/>
                </a:solidFill>
                <a:latin typeface="Georgia"/>
                <a:ea typeface="Georgia"/>
                <a:cs typeface="Georgia"/>
                <a:sym typeface="Georgia"/>
              </a:rPr>
              <a:t>Estimation</a:t>
            </a:r>
            <a:endParaRPr sz="1400"/>
          </a:p>
        </p:txBody>
      </p:sp>
      <p:sp>
        <p:nvSpPr>
          <p:cNvPr id="102" name="Google Shape;102;g3c6bc0a1fc7_0_13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3" name="Google Shape;103;g3c6bc0a1fc7_0_133" title="0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700" y="977400"/>
            <a:ext cx="6346800" cy="395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668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05668D"/>
                </a:solidFill>
                <a:latin typeface="Georgia"/>
                <a:ea typeface="Georgia"/>
                <a:cs typeface="Georgia"/>
                <a:sym typeface="Georgia"/>
              </a:rPr>
              <a:t>Next Steps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457200" y="1188720"/>
            <a:ext cx="73152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40080" y="14173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097280" y="14173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Enhance with Additional Data: </a:t>
            </a:r>
            <a:r>
              <a:rPr b="0" i="0" lang="en-US" sz="14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Integrate genre tags, user listening history, and collaborative filtering signals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57200" y="2286000"/>
            <a:ext cx="73152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40080" y="25146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097280" y="2514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Explore Alternative Methods: </a:t>
            </a:r>
            <a:r>
              <a:rPr b="0" i="0" lang="en-US" sz="14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Test DBSCAN for density-based clustering or hierarchical clustering for better interpretability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8F9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57200" y="3383280"/>
            <a:ext cx="73152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40080" y="36118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28090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097280" y="3611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E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A/B Test with Customers: </a:t>
            </a:r>
            <a:r>
              <a:rPr b="0" i="0" lang="en-US" sz="1400" u="none" cap="none" strike="noStrike">
                <a:solidFill>
                  <a:srgbClr val="2F3E46"/>
                </a:solidFill>
                <a:latin typeface="Calibri"/>
                <a:ea typeface="Calibri"/>
                <a:cs typeface="Calibri"/>
                <a:sym typeface="Calibri"/>
              </a:rPr>
              <a:t>Deploy ML playlists alongside human-curated ones and measure satisfaction and retention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668D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18872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2377440" y="12801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Key Takeaway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371600" y="22860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K-Means clustering shows </a:t>
            </a:r>
            <a:r>
              <a:rPr b="1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promise as a scalable solution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for automated playlist generation, but would benefit from richer data sources and customer validation before full deployment.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3BD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0F3BD"/>
                </a:solidFill>
                <a:latin typeface="Georgia"/>
                <a:ea typeface="Georgia"/>
                <a:cs typeface="Georgia"/>
                <a:sym typeface="Georgia"/>
              </a:rPr>
              <a:t>Questions?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3eaef876b_0_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g393eaef876b_0_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Appendixes: Radar Chart of the Play lists</a:t>
            </a:r>
            <a:endParaRPr/>
          </a:p>
        </p:txBody>
      </p:sp>
      <p:pic>
        <p:nvPicPr>
          <p:cNvPr id="140" name="Google Shape;140;g393eaef876b_0_6" title="new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5908" y="948950"/>
            <a:ext cx="5374872" cy="403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3eaef876b_0_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g393eaef876b_0_1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Appendixes: </a:t>
            </a:r>
            <a:r>
              <a:rPr lang="en-US"/>
              <a:t>PCA Variance Explained (Individual &amp; Cumulative)</a:t>
            </a:r>
            <a:endParaRPr/>
          </a:p>
        </p:txBody>
      </p:sp>
      <p:pic>
        <p:nvPicPr>
          <p:cNvPr id="148" name="Google Shape;148;g393eaef876b_0_16" title="0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563" y="1106225"/>
            <a:ext cx="6358074" cy="37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3eaef876b_0_2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g393eaef876b_0_2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Appendixes: Songs Distribution</a:t>
            </a:r>
            <a:endParaRPr/>
          </a:p>
        </p:txBody>
      </p:sp>
      <p:pic>
        <p:nvPicPr>
          <p:cNvPr id="156" name="Google Shape;156;g393eaef876b_0_26" title="00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6602" y="674725"/>
            <a:ext cx="1932799" cy="429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93eaef876b_0_26" title="00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1025" y="674725"/>
            <a:ext cx="1932800" cy="424753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93eaef876b_0_26"/>
          <p:cNvSpPr txBox="1"/>
          <p:nvPr/>
        </p:nvSpPr>
        <p:spPr>
          <a:xfrm>
            <a:off x="2160125" y="2889275"/>
            <a:ext cx="14550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before PCA()</a:t>
            </a:r>
            <a:endParaRPr/>
          </a:p>
        </p:txBody>
      </p:sp>
      <p:sp>
        <p:nvSpPr>
          <p:cNvPr id="159" name="Google Shape;159;g393eaef876b_0_26"/>
          <p:cNvSpPr txBox="1"/>
          <p:nvPr/>
        </p:nvSpPr>
        <p:spPr>
          <a:xfrm>
            <a:off x="7591700" y="1599475"/>
            <a:ext cx="1114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after PCA()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3eaef876b_0_3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g393eaef876b_0_38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Appendixes: Tracks Examinatin</a:t>
            </a:r>
            <a:endParaRPr/>
          </a:p>
        </p:txBody>
      </p:sp>
      <p:pic>
        <p:nvPicPr>
          <p:cNvPr id="167" name="Google Shape;167;g393eaef876b_0_38" title="Screenshot 2026-02-14 10403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500" y="1392325"/>
            <a:ext cx="8839202" cy="2702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2026-02-09T18:58:25Z</dcterms:created>
  <dc:creator>Moosic Data Science Team</dc:creator>
</cp:coreProperties>
</file>